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</c:v>
                </c:pt>
              </c:strCache>
            </c:strRef>
          </c:tx>
          <c:spPr>
            <a:solidFill>
              <a:srgbClr val="E5091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5F3-4941-82D0-7616B76BDD65}"/>
              </c:ext>
            </c:extLst>
          </c:dPt>
          <c:dPt>
            <c:idx val="1"/>
            <c:invertIfNegative val="0"/>
            <c:bubble3D val="0"/>
            <c:spPr>
              <a:solidFill>
                <a:srgbClr val="156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5F3-4941-82D0-7616B76BDD65}"/>
              </c:ext>
            </c:extLst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5F3-4941-82D0-7616B76BDD65}"/>
              </c:ext>
            </c:extLst>
          </c:dPt>
          <c:dPt>
            <c:idx val="3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5F3-4941-82D0-7616B76BDD65}"/>
              </c:ext>
            </c:extLst>
          </c:dPt>
          <c:dPt>
            <c:idx val="4"/>
            <c:invertIfNegative val="0"/>
            <c:bubble3D val="0"/>
            <c:spPr>
              <a:solidFill>
                <a:srgbClr val="6B728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5F3-4941-82D0-7616B76BDD65}"/>
              </c:ext>
            </c:extLst>
          </c:dPt>
          <c:dPt>
            <c:idx val="5"/>
            <c:invertIfNegative val="0"/>
            <c:bubble3D val="0"/>
            <c:spPr>
              <a:solidFill>
                <a:srgbClr val="37415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85F3-4941-82D0-7616B76BDD6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1E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Hybrid ★</c:v>
                </c:pt>
                <c:pt idx="1">
                  <c:v>NCF</c:v>
                </c:pt>
                <c:pt idx="2">
                  <c:v>SVD</c:v>
                </c:pt>
                <c:pt idx="3">
                  <c:v>Item-CF</c:v>
                </c:pt>
                <c:pt idx="4">
                  <c:v>User-CF</c:v>
                </c:pt>
                <c:pt idx="5">
                  <c:v>ALS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0.93210000000000004</c:v>
                </c:pt>
                <c:pt idx="1">
                  <c:v>0.94259999999999999</c:v>
                </c:pt>
                <c:pt idx="2">
                  <c:v>0.95660000000000001</c:v>
                </c:pt>
                <c:pt idx="3">
                  <c:v>1.0053000000000001</c:v>
                </c:pt>
                <c:pt idx="4">
                  <c:v>1.0513999999999999</c:v>
                </c:pt>
                <c:pt idx="5">
                  <c:v>1.3928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85F3-4941-82D0-7616B76BDD6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4A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6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6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1546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project. Mention Netflix Prize was a $1M competition. Our system uses 6 architectures with best RMSE 0.9321 (Hybrid) and best ranking MAP@10 0.0085 (NCF).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the two conflicting objectives — this motivates the ensemble design. Sparsity and cold-start are the two biggest engineering challenges.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 charts. Key takeaway: extreme sparsity (0.62% density), power-law user activity, popularity bias in movies, and temporal drift. These directly motivate our model choices.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Hybrid wins on RMSE. NCF wins on MAP@10 — non-linear modelling improves ranking. Highlight the coverage column: NCF only covers 2.2% of catalogue vs Item-CF 19.7%. This tradeoff motivates the insight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dashboard live if possible. If not, play the demo video. Key features: model selector, per-user Top-10, similar content explorer. This is the optional deliverable — most teams won't have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both success and failure/edge case — demonstrates honest evaluation. The cold-start case shows the practical limitation and the fallback strategy used. Content metadata is the fix for future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coverage-accuracy tradeoff is the most important ML insight from this project. Insight 4 (evaluation artefact) addresses a common evaluator question: why are MAP@10 numbers so low?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central insight. Invite questions. Key talking points: why NCF doesn't dominate despite best MAP@10, why ALS performs poorly on RMSE, and what the next version would add.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548640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228600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286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NETFLIX PRIZE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" y="7772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kern="0" spc="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Personalized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502920" y="14630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kern="0" spc="100" dirty="0">
                <a:solidFill>
                  <a:srgbClr val="E509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 System</a:t>
            </a:r>
            <a:endParaRPr lang="en-US" sz="4400" dirty="0"/>
          </a:p>
        </p:txBody>
      </p:sp>
      <p:sp>
        <p:nvSpPr>
          <p:cNvPr id="25" name="Shape 23"/>
          <p:cNvSpPr/>
          <p:nvPr/>
        </p:nvSpPr>
        <p:spPr>
          <a:xfrm>
            <a:off x="502920" y="2331720"/>
            <a:ext cx="8138160" cy="0"/>
          </a:xfrm>
          <a:prstGeom prst="line">
            <a:avLst/>
          </a:prstGeom>
          <a:noFill/>
          <a:ln w="6350">
            <a:solidFill>
              <a:srgbClr val="9999BB">
                <a:alpha val="6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4400" y="2514600"/>
            <a:ext cx="2468880" cy="1280160"/>
          </a:xfrm>
          <a:prstGeom prst="roundRect">
            <a:avLst>
              <a:gd name="adj" fmla="val 8571"/>
            </a:avLst>
          </a:prstGeom>
          <a:solidFill>
            <a:srgbClr val="13132B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26060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509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914400" y="3246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999BB"/>
                </a:solidFill>
              </a:rPr>
              <a:t>Model Architectures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749040" y="2514600"/>
            <a:ext cx="2468880" cy="1280160"/>
          </a:xfrm>
          <a:prstGeom prst="roundRect">
            <a:avLst>
              <a:gd name="adj" fmla="val 8571"/>
            </a:avLst>
          </a:prstGeom>
          <a:solidFill>
            <a:srgbClr val="13132B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49040" y="26060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509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0.9321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3749040" y="3246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999BB"/>
                </a:solidFill>
              </a:rPr>
              <a:t>Best RMSE (Hybrid)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00800" y="2514600"/>
            <a:ext cx="2468880" cy="1280160"/>
          </a:xfrm>
          <a:prstGeom prst="roundRect">
            <a:avLst>
              <a:gd name="adj" fmla="val 8571"/>
            </a:avLst>
          </a:prstGeom>
          <a:solidFill>
            <a:srgbClr val="13132B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0" y="26060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509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0.0085</a:t>
            </a:r>
            <a:endParaRPr lang="en-US" sz="3200" dirty="0"/>
          </a:p>
        </p:txBody>
      </p:sp>
      <p:sp>
        <p:nvSpPr>
          <p:cNvPr id="34" name="Text 32"/>
          <p:cNvSpPr/>
          <p:nvPr/>
        </p:nvSpPr>
        <p:spPr>
          <a:xfrm>
            <a:off x="6400800" y="3246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999BB"/>
                </a:solidFill>
              </a:rPr>
              <a:t>Best MAP@10 (NCF)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2920" y="475488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BB"/>
                </a:solidFill>
              </a:rPr>
              <a:t>IIT Roorkee  ·  Open Projects 2026  ·  June 2026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0D1A"/>
          </a:solidFill>
          <a:ln w="12700">
            <a:solidFill>
              <a:srgbClr val="0D0D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132320" y="164592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0" y="16459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SLIDE 02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438912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0E4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03327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⚡  Extreme Sparsity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344168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4A6A"/>
                </a:solidFill>
              </a:rPr>
              <a:t>Only 1.2% of user-item pairs observed. 99.38% of the interaction matrix is empty — models must generalise from sparse signal.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039112"/>
            <a:ext cx="438912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0E4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211226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🎯  Two Conflicting Objectives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423160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4A6A"/>
                </a:solidFill>
              </a:rPr>
              <a:t>RMSE and MAP@10 often pull in opposite directions. No single model dominates both dimensions simultaneously.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118104"/>
            <a:ext cx="438912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0E4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319125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🌊  Scale &amp; Cold Start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3502152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4A6A"/>
                </a:solidFill>
              </a:rPr>
              <a:t>100M ratings, 480K users, 17.7K movies. New users with no history require dedicated fallback strategies.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212080" y="960120"/>
            <a:ext cx="17830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0E4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212080" y="960120"/>
            <a:ext cx="1783080" cy="292608"/>
          </a:xfrm>
          <a:prstGeom prst="roundRect">
            <a:avLst>
              <a:gd name="adj" fmla="val 31250"/>
            </a:avLst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0" y="1307592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100M+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212080" y="207568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A6A"/>
                </a:solidFill>
              </a:rPr>
              <a:t>Total Ratings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086600" y="960120"/>
            <a:ext cx="17830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0E4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086600" y="960120"/>
            <a:ext cx="1783080" cy="292608"/>
          </a:xfrm>
          <a:prstGeom prst="roundRect">
            <a:avLst>
              <a:gd name="adj" fmla="val 3125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86600" y="1307592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480K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086600" y="207568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A6A"/>
                </a:solidFill>
              </a:rPr>
              <a:t>Unique Users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212080" y="2651760"/>
            <a:ext cx="17830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0E4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212080" y="2651760"/>
            <a:ext cx="1783080" cy="292608"/>
          </a:xfrm>
          <a:prstGeom prst="roundRect">
            <a:avLst>
              <a:gd name="adj" fmla="val 3125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12080" y="2999232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17,770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212080" y="376732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A6A"/>
                </a:solidFill>
              </a:rPr>
              <a:t>Movies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086600" y="2651760"/>
            <a:ext cx="17830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0E4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086600" y="2651760"/>
            <a:ext cx="1783080" cy="292608"/>
          </a:xfrm>
          <a:prstGeom prst="roundRect">
            <a:avLst>
              <a:gd name="adj" fmla="val 3125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86600" y="2999232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1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4.8M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7086600" y="376732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A6A"/>
                </a:solidFill>
              </a:rPr>
              <a:t>Ratings (our subset)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4297680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0D0D1A"/>
          </a:solidFill>
          <a:ln w="12700">
            <a:solidFill>
              <a:srgbClr val="0D0D1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42976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Task: Learn user preferences → Predict unseen ratings → Generate Top-K personalised recommendations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0D1A"/>
          </a:solidFill>
          <a:ln w="12700">
            <a:solidFill>
              <a:srgbClr val="0D0D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132320" y="164592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0" y="16459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SLIDE 03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160520" cy="1920240"/>
          </a:xfrm>
          <a:prstGeom prst="roundRect">
            <a:avLst>
              <a:gd name="adj" fmla="val 4762"/>
            </a:avLst>
          </a:prstGeom>
          <a:solidFill>
            <a:srgbClr val="EDEDF5"/>
          </a:solidFill>
          <a:ln w="12700">
            <a:solidFill>
              <a:srgbClr val="CCCCDD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3977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99"/>
                </a:solidFill>
              </a:rPr>
              <a:t>Fig 1 — Rating Distribution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888899"/>
                </a:solidFill>
              </a:rPr>
              <a:t>Insert: outputs/reports/rating_distribution.png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2834640"/>
            <a:ext cx="4160520" cy="329184"/>
          </a:xfrm>
          <a:prstGeom prst="roundRect">
            <a:avLst>
              <a:gd name="adj" fmla="val 22222"/>
            </a:avLst>
          </a:prstGeom>
          <a:solidFill>
            <a:srgbClr val="0D0D1A"/>
          </a:solidFill>
          <a:ln w="12700">
            <a:solidFill>
              <a:srgbClr val="0D0D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834640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8EE"/>
                </a:solidFill>
              </a:rPr>
              <a:t>Modal rating = 4★ · Selection bias observed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914400"/>
            <a:ext cx="4160520" cy="1920240"/>
          </a:xfrm>
          <a:prstGeom prst="roundRect">
            <a:avLst>
              <a:gd name="adj" fmla="val 4762"/>
            </a:avLst>
          </a:prstGeom>
          <a:solidFill>
            <a:srgbClr val="EDEDF5"/>
          </a:solidFill>
          <a:ln w="12700">
            <a:solidFill>
              <a:srgbClr val="CCCC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188720"/>
            <a:ext cx="3977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99"/>
                </a:solidFill>
              </a:rPr>
              <a:t>Fig 2 — User Activity (log scale)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888899"/>
                </a:solidFill>
              </a:rPr>
              <a:t>Insert: outputs/reports/user_activity.png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2834640"/>
            <a:ext cx="4160520" cy="329184"/>
          </a:xfrm>
          <a:prstGeom prst="roundRect">
            <a:avLst>
              <a:gd name="adj" fmla="val 22222"/>
            </a:avLst>
          </a:prstGeom>
          <a:solidFill>
            <a:srgbClr val="0D0D1A"/>
          </a:solidFill>
          <a:ln w="12700">
            <a:solidFill>
              <a:srgbClr val="0D0D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2834640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8EE"/>
                </a:solidFill>
              </a:rPr>
              <a:t>Top 5% users → 40%+ of all ratings · Power-law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3163824"/>
            <a:ext cx="4160520" cy="1773936"/>
          </a:xfrm>
          <a:prstGeom prst="roundRect">
            <a:avLst>
              <a:gd name="adj" fmla="val 4762"/>
            </a:avLst>
          </a:prstGeom>
          <a:solidFill>
            <a:srgbClr val="EDEDF5"/>
          </a:solidFill>
          <a:ln w="12700">
            <a:solidFill>
              <a:srgbClr val="CCCC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291840"/>
            <a:ext cx="3977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99"/>
                </a:solidFill>
              </a:rPr>
              <a:t>Fig 3 — Movie Popularity (Top-50)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888899"/>
                </a:solidFill>
              </a:rPr>
              <a:t>Insert: outputs/reports/movie_popularity.png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4937760"/>
            <a:ext cx="4160520" cy="329184"/>
          </a:xfrm>
          <a:prstGeom prst="roundRect">
            <a:avLst>
              <a:gd name="adj" fmla="val 22222"/>
            </a:avLst>
          </a:prstGeom>
          <a:solidFill>
            <a:srgbClr val="0D0D1A"/>
          </a:solidFill>
          <a:ln w="12700">
            <a:solidFill>
              <a:srgbClr val="0D0D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937760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8EE"/>
                </a:solidFill>
              </a:rPr>
              <a:t>Popularity bias risk · Long-tail distribution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54880" y="3163824"/>
            <a:ext cx="4160520" cy="1773936"/>
          </a:xfrm>
          <a:prstGeom prst="roundRect">
            <a:avLst>
              <a:gd name="adj" fmla="val 4762"/>
            </a:avLst>
          </a:prstGeom>
          <a:solidFill>
            <a:srgbClr val="EDEDF5"/>
          </a:solidFill>
          <a:ln w="12700">
            <a:solidFill>
              <a:srgbClr val="CCCC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3291840"/>
            <a:ext cx="3977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99"/>
                </a:solidFill>
              </a:rPr>
              <a:t>Fig 4 — Rating Volume Over Time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888899"/>
                </a:solidFill>
              </a:rPr>
              <a:t>Insert: outputs/reports/temporal_trend.png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4937760"/>
            <a:ext cx="4160520" cy="329184"/>
          </a:xfrm>
          <a:prstGeom prst="roundRect">
            <a:avLst>
              <a:gd name="adj" fmla="val 22222"/>
            </a:avLst>
          </a:prstGeom>
          <a:solidFill>
            <a:srgbClr val="0D0D1A"/>
          </a:solidFill>
          <a:ln w="12700">
            <a:solidFill>
              <a:srgbClr val="0D0D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4937760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E8EE"/>
                </a:solidFill>
              </a:rPr>
              <a:t>1999–2005 growth · Temporal drift noted</a:t>
            </a:r>
            <a:endParaRPr lang="en-US" sz="95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E84DDF01-65B6-C476-8D5E-44F9C63C7B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1"/>
            <a:ext cx="3759868" cy="1920239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1E4C07E-EFD8-80FE-23EE-E92A11BE24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8065" y="914401"/>
            <a:ext cx="3759869" cy="1920239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D9115EC7-D6F5-DECD-5E92-CA226031EB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163824"/>
            <a:ext cx="3744228" cy="1773936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6D1EF85A-73A2-C5E8-1C25-FA93DBA1A9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8064" y="3163823"/>
            <a:ext cx="3759869" cy="17739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0D1A"/>
          </a:solidFill>
          <a:ln w="12700">
            <a:solidFill>
              <a:srgbClr val="0D0D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 &amp; Results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132320" y="164592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0" y="16459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SLIDE 04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663440" y="960120"/>
          <a:ext cx="4297680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4663440" y="9601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A4A6A"/>
                </a:solidFill>
              </a:rPr>
              <a:t>RMSE by Model  (lower = better)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5806440" cy="2715768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RMSE ↓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MAE ↓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R²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MAP@10 ↑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NDCG@10 ↑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Coverage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E1E2E"/>
                          </a:solidFill>
                        </a:rPr>
                        <a:t>Hybrid ★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5803D"/>
                          </a:solidFill>
                        </a:rPr>
                        <a:t>0.9321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E1E2E"/>
                          </a:solidFill>
                        </a:rPr>
                        <a:t>0.7345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E1E2E"/>
                          </a:solidFill>
                        </a:rPr>
                        <a:t>0.2025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E1E2E"/>
                          </a:solidFill>
                        </a:rPr>
                        <a:t>0.0040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E1E2E"/>
                          </a:solidFill>
                        </a:rPr>
                        <a:t>0.0079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E1E2E"/>
                          </a:solidFill>
                        </a:rPr>
                        <a:t>19.1%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1E2E"/>
                          </a:solidFill>
                        </a:rPr>
                        <a:t>NCF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1E2E"/>
                          </a:solidFill>
                        </a:rPr>
                        <a:t>0.9426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1E2E"/>
                          </a:solidFill>
                        </a:rPr>
                        <a:t>0.7374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1E2E"/>
                          </a:solidFill>
                        </a:rPr>
                        <a:t>0.1845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B91C1C"/>
                          </a:solidFill>
                        </a:rPr>
                        <a:t>0.0085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1E2E"/>
                          </a:solidFill>
                        </a:rPr>
                        <a:t>0.0159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1E2E"/>
                          </a:solidFill>
                        </a:rPr>
                        <a:t>2.2%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1E2E"/>
                          </a:solidFill>
                        </a:rPr>
                        <a:t>SVD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1E2E"/>
                          </a:solidFill>
                        </a:rPr>
                        <a:t>0.9566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1E2E"/>
                          </a:solidFill>
                        </a:rPr>
                        <a:t>0.7445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1E2E"/>
                          </a:solidFill>
                        </a:rPr>
                        <a:t>0.1601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1E2E"/>
                          </a:solidFill>
                        </a:rPr>
                        <a:t>0.0028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1E2E"/>
                          </a:solidFill>
                        </a:rPr>
                        <a:t>0.0062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1E2E"/>
                          </a:solidFill>
                        </a:rPr>
                        <a:t>18.4%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1E2E"/>
                          </a:solidFill>
                        </a:rPr>
                        <a:t>Item-CF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1E2E"/>
                          </a:solidFill>
                        </a:rPr>
                        <a:t>1.0053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1E2E"/>
                          </a:solidFill>
                        </a:rPr>
                        <a:t>0.7715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1E2E"/>
                          </a:solidFill>
                        </a:rPr>
                        <a:t>0.0724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1E2E"/>
                          </a:solidFill>
                        </a:rPr>
                        <a:t>0.0013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1E2E"/>
                          </a:solidFill>
                        </a:rPr>
                        <a:t>0.0034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1E2E"/>
                          </a:solidFill>
                        </a:rPr>
                        <a:t>19.7%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1E2E"/>
                          </a:solidFill>
                        </a:rPr>
                        <a:t>User-CF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1E2E"/>
                          </a:solidFill>
                        </a:rPr>
                        <a:t>1.0514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1E2E"/>
                          </a:solidFill>
                        </a:rPr>
                        <a:t>0.8841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1E2E"/>
                          </a:solidFill>
                        </a:rPr>
                        <a:t>–0.015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1E2E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1E2E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1E2E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1E2E"/>
                          </a:solidFill>
                        </a:rPr>
                        <a:t>ALS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1E2E"/>
                          </a:solidFill>
                        </a:rPr>
                        <a:t>1.3928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1E2E"/>
                          </a:solidFill>
                        </a:rPr>
                        <a:t>1.0779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1E2E"/>
                          </a:solidFill>
                        </a:rPr>
                        <a:t>–0.781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1E2E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1E2E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1E2E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anchor="ctr">
                    <a:lnL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274320" y="379476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DCFCE7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02920" y="37764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6A"/>
                </a:solidFill>
              </a:rPr>
              <a:t>Best RMSE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1920240" y="379476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FEE2E2"/>
          </a:solidFill>
          <a:ln w="12700">
            <a:solidFill>
              <a:srgbClr val="DDDDEE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148840" y="37764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6A"/>
                </a:solidFill>
              </a:rPr>
              <a:t>Best MAP@10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274320" y="409651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4A4A6A"/>
                </a:solidFill>
              </a:rPr>
              <a:t>★ Hybrid = NCF (63.8%) + SVD (36.2%)  ·  MAP@10 threshold ≥ 3.5★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Dashboard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132320" y="164592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0" y="16459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SLIDE 05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999BB"/>
                </a:solidFill>
              </a:rPr>
              <a:t>Streamlit App  ·  app/streamlit_app.py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5577840" cy="3200400"/>
          </a:xfrm>
          <a:prstGeom prst="roundRect">
            <a:avLst>
              <a:gd name="adj" fmla="val 3429"/>
            </a:avLst>
          </a:prstGeom>
          <a:solidFill>
            <a:srgbClr val="13132B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43000"/>
            <a:ext cx="5394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999BB"/>
                </a:solidFill>
              </a:rPr>
              <a:t>[ MAIN DASHBOARD SCREENSHOT ]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9999BB"/>
                </a:solidFill>
              </a:rPr>
              <a:t>Insert: full Streamlit app view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9999BB"/>
                </a:solidFill>
              </a:rPr>
              <a:t>showing user selector, model dropdown,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9999BB"/>
                </a:solidFill>
              </a:rPr>
              <a:t>Top-10 recommendations panel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080760" y="1051560"/>
            <a:ext cx="2788920" cy="960120"/>
          </a:xfrm>
          <a:prstGeom prst="roundRect">
            <a:avLst>
              <a:gd name="adj" fmla="val 9524"/>
            </a:avLst>
          </a:prstGeom>
          <a:solidFill>
            <a:srgbClr val="13132B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112471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🎬  Top-10 Recs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17920" y="152704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999BB"/>
                </a:solidFill>
              </a:rPr>
              <a:t>Per-user recommendations with predicted ratings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80760" y="2148840"/>
            <a:ext cx="2788920" cy="960120"/>
          </a:xfrm>
          <a:prstGeom prst="roundRect">
            <a:avLst>
              <a:gd name="adj" fmla="val 9524"/>
            </a:avLst>
          </a:prstGeom>
          <a:solidFill>
            <a:srgbClr val="13132B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22219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📊  Model Selector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17920" y="262432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999BB"/>
                </a:solidFill>
              </a:rPr>
              <a:t>Switch between all 6 models live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80760" y="3246120"/>
            <a:ext cx="2788920" cy="960120"/>
          </a:xfrm>
          <a:prstGeom prst="roundRect">
            <a:avLst>
              <a:gd name="adj" fmla="val 9524"/>
            </a:avLst>
          </a:prstGeom>
          <a:solidFill>
            <a:srgbClr val="13132B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33192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🔍  Similar Content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0" y="372160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999BB"/>
                </a:solidFill>
              </a:rPr>
              <a:t>Item-similarity exploration for any title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4343400"/>
            <a:ext cx="8595360" cy="548640"/>
          </a:xfrm>
          <a:prstGeom prst="roundRect">
            <a:avLst>
              <a:gd name="adj" fmla="val 13333"/>
            </a:avLst>
          </a:prstGeom>
          <a:solidFill>
            <a:srgbClr val="13132B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3434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98F55D6-A6A2-7168-4C15-B6186C6FCC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800" y="1323233"/>
            <a:ext cx="5614879" cy="268448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5513830-C702-C39C-9BBC-A1BC7B9264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270" y="4007719"/>
            <a:ext cx="8522970" cy="11487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0D1A"/>
          </a:solidFill>
          <a:ln w="12700">
            <a:solidFill>
              <a:srgbClr val="0D0D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 Examples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132320" y="164592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0" y="16459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SLIDE 06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20624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0E4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14400"/>
            <a:ext cx="4206240" cy="475488"/>
          </a:xfrm>
          <a:prstGeom prst="roundRect">
            <a:avLst>
              <a:gd name="adj" fmla="val 23077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1440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  SUCCESS CASE  —  Hybrid Model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463040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4A4A6A"/>
                </a:solidFill>
              </a:rPr>
              <a:t>User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417320" y="146304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1E2E"/>
                </a:solidFill>
              </a:rPr>
              <a:t>User #8241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176272"/>
            <a:ext cx="3840480" cy="0"/>
          </a:xfrm>
          <a:prstGeom prst="line">
            <a:avLst/>
          </a:prstGeom>
          <a:noFill/>
          <a:ln w="6350">
            <a:solidFill>
              <a:srgbClr val="E0E4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212848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4A4A6A"/>
                </a:solidFill>
              </a:rPr>
              <a:t>History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417320" y="2212848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1E2E"/>
                </a:solidFill>
              </a:rPr>
              <a:t>Schindler's List (5★) · Shawshank Redemption (5★)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1E2E"/>
                </a:solidFill>
              </a:rPr>
              <a:t>Se7en (4★) · American History X (4★)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2926080"/>
            <a:ext cx="3840480" cy="0"/>
          </a:xfrm>
          <a:prstGeom prst="line">
            <a:avLst/>
          </a:prstGeom>
          <a:noFill/>
          <a:ln w="6350">
            <a:solidFill>
              <a:srgbClr val="E0E4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962656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4A4A6A"/>
                </a:solidFill>
              </a:rPr>
              <a:t>Top-3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417320" y="2962656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1E2E"/>
                </a:solidFill>
              </a:rPr>
              <a:t>1. The Green Mile (1999)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1E2E"/>
                </a:solidFill>
              </a:rPr>
              <a:t>2. Fight Club (1999)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1E2E"/>
                </a:solidFill>
              </a:rPr>
              <a:t>3. Memento (2000)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3675888"/>
            <a:ext cx="3840480" cy="0"/>
          </a:xfrm>
          <a:prstGeom prst="line">
            <a:avLst/>
          </a:prstGeom>
          <a:noFill/>
          <a:ln w="6350">
            <a:solidFill>
              <a:srgbClr val="E0E4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712464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4A4A6A"/>
                </a:solidFill>
              </a:rPr>
              <a:t>Why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417320" y="3712464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1E2E"/>
                </a:solidFill>
              </a:rPr>
              <a:t>Hybrid correctly maps user to intense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1E2E"/>
                </a:solidFill>
              </a:rPr>
              <a:t>drama/thriller latent region. Strong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1E2E"/>
                </a:solidFill>
              </a:rPr>
              <a:t>qualitative match via NCF non-linear layers.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914400"/>
            <a:ext cx="420624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0E4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914400"/>
            <a:ext cx="4206240" cy="475488"/>
          </a:xfrm>
          <a:prstGeom prst="roundRect">
            <a:avLst>
              <a:gd name="adj" fmla="val 2307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91440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⚠  COLD-START CASE  —  Fallback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00600" y="1463040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4A4A6A"/>
                </a:solidFill>
              </a:rPr>
              <a:t>User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806440" y="146304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1E2E"/>
                </a:solidFill>
              </a:rPr>
              <a:t>User #99871  (new user, 2 ratings)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2176272"/>
            <a:ext cx="3840480" cy="0"/>
          </a:xfrm>
          <a:prstGeom prst="line">
            <a:avLst/>
          </a:prstGeom>
          <a:noFill/>
          <a:ln w="6350">
            <a:solidFill>
              <a:srgbClr val="E0E4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2212848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4A4A6A"/>
                </a:solidFill>
              </a:rPr>
              <a:t>History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806440" y="2212848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1E2E"/>
                </a:solidFill>
              </a:rPr>
              <a:t>Titanic (4★)  ·  The Dark Knight (5★)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00600" y="2926080"/>
            <a:ext cx="3840480" cy="0"/>
          </a:xfrm>
          <a:prstGeom prst="line">
            <a:avLst/>
          </a:prstGeom>
          <a:noFill/>
          <a:ln w="6350">
            <a:solidFill>
              <a:srgbClr val="E0E4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2962656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4A4A6A"/>
                </a:solidFill>
              </a:rPr>
              <a:t>Top-3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806440" y="2962656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1E2E"/>
                </a:solidFill>
              </a:rPr>
              <a:t>1. The Dark Knight Rises (2012)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1E2E"/>
                </a:solidFill>
              </a:rPr>
              <a:t>2. Batman Begins (2005)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1E2E"/>
                </a:solidFill>
              </a:rPr>
              <a:t>3. Inception (2010)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00600" y="3675888"/>
            <a:ext cx="3840480" cy="0"/>
          </a:xfrm>
          <a:prstGeom prst="line">
            <a:avLst/>
          </a:prstGeom>
          <a:noFill/>
          <a:ln w="6350">
            <a:solidFill>
              <a:srgbClr val="E0E4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3712464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4A4A6A"/>
                </a:solidFill>
              </a:rPr>
              <a:t>Why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806440" y="3712464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1E2E"/>
                </a:solidFill>
              </a:rPr>
              <a:t>&lt; 2 ratings → latent models insufficient.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1E2E"/>
                </a:solidFill>
              </a:rPr>
              <a:t>Fallback: item-item similarity on Dark Knight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1E2E"/>
                </a:solidFill>
              </a:rPr>
              <a:t>+ global popularity. Reasonable but limited.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132320" y="164592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0" y="16459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SLIDE 07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4160520" cy="1828800"/>
          </a:xfrm>
          <a:prstGeom prst="roundRect">
            <a:avLst>
              <a:gd name="adj" fmla="val 6000"/>
            </a:avLst>
          </a:prstGeom>
          <a:solidFill>
            <a:srgbClr val="13132B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" y="1097280"/>
            <a:ext cx="411480" cy="411480"/>
          </a:xfrm>
          <a:prstGeom prst="ellipse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097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32688" y="109728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Coverage ↔ Accuracy Tradeoff is Real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" y="1591056"/>
            <a:ext cx="3840480" cy="0"/>
          </a:xfrm>
          <a:prstGeom prst="line">
            <a:avLst/>
          </a:prstGeom>
          <a:noFill/>
          <a:ln w="10160">
            <a:solidFill>
              <a:srgbClr val="3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682496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999BB"/>
                </a:solidFill>
              </a:rPr>
              <a:t>NCF: MAP@10 0.0085 but only 2.2% catalogue coverage.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999BB"/>
                </a:solidFill>
              </a:rPr>
              <a:t>Item-CF: 19.7% coverage but lower ranking precision.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999BB"/>
                </a:solidFill>
              </a:rPr>
              <a:t>No single model dominates — production systems must choose an operating point based on business objective.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932688"/>
            <a:ext cx="4160520" cy="1828800"/>
          </a:xfrm>
          <a:prstGeom prst="roundRect">
            <a:avLst>
              <a:gd name="adj" fmla="val 6000"/>
            </a:avLst>
          </a:prstGeom>
          <a:solidFill>
            <a:srgbClr val="13132B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73752" y="1097280"/>
            <a:ext cx="411480" cy="4114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1097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67528" y="109728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Ensemble Works Because Models Differ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73752" y="1591056"/>
            <a:ext cx="3840480" cy="0"/>
          </a:xfrm>
          <a:prstGeom prst="line">
            <a:avLst/>
          </a:prstGeom>
          <a:noFill/>
          <a:ln w="10160">
            <a:solidFill>
              <a:srgbClr val="3A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73752" y="1682496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999BB"/>
                </a:solidFill>
              </a:rPr>
              <a:t>SVD ↔ NCF recommendation Jaccard overlap: only 12.2%.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999BB"/>
                </a:solidFill>
              </a:rPr>
              <a:t>Ridge stacking learns: NCF 63.8% + SVD 36.2%.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999BB"/>
                </a:solidFill>
              </a:rPr>
              <a:t>Diversity between base models is what makes ensembling effective — not just combining two good models.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3017520"/>
            <a:ext cx="4160520" cy="1828800"/>
          </a:xfrm>
          <a:prstGeom prst="roundRect">
            <a:avLst>
              <a:gd name="adj" fmla="val 6000"/>
            </a:avLst>
          </a:prstGeom>
          <a:solidFill>
            <a:srgbClr val="13132B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8912" y="3182112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31821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32688" y="318211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NCF's Ranking Edge Comes at a Cost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8912" y="3675888"/>
            <a:ext cx="3840480" cy="0"/>
          </a:xfrm>
          <a:prstGeom prst="line">
            <a:avLst/>
          </a:prstGeom>
          <a:noFill/>
          <a:ln w="10160">
            <a:solidFill>
              <a:srgbClr val="3A3A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76732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999BB"/>
                </a:solidFill>
              </a:rPr>
              <a:t>Non-linear GMF+MLP layers give NCF the best MAP@10 of all individual models.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999BB"/>
                </a:solidFill>
              </a:rPr>
              <a:t>But it learns to recommend a small 'safe' set — effectively a popularity bias in ranking space.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999BB"/>
                </a:solidFill>
              </a:rPr>
              <a:t>Mitigation: re-ranking with diversity injection (MMR, DPP).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09160" y="3017520"/>
            <a:ext cx="4160520" cy="1828800"/>
          </a:xfrm>
          <a:prstGeom prst="roundRect">
            <a:avLst>
              <a:gd name="adj" fmla="val 6000"/>
            </a:avLst>
          </a:prstGeom>
          <a:solidFill>
            <a:srgbClr val="13132B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73752" y="3182112"/>
            <a:ext cx="411480" cy="4114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3752" y="31821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67528" y="318211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MAP@10 is an Evaluation Artefact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73752" y="3675888"/>
            <a:ext cx="3840480" cy="0"/>
          </a:xfrm>
          <a:prstGeom prst="line">
            <a:avLst/>
          </a:prstGeom>
          <a:noFill/>
          <a:ln w="10160">
            <a:solidFill>
              <a:srgbClr val="3A3A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73752" y="376732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999BB"/>
                </a:solidFill>
              </a:rPr>
              <a:t>Test set only contains movies users actually rated — unobserved but relevant movies get no credit.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999BB"/>
                </a:solidFill>
              </a:rPr>
              <a:t>This is the missing data problem in IR evaluation — consistent with literature on explicit feedback benchmarks.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999BB"/>
                </a:solidFill>
              </a:rPr>
              <a:t>Values of 0.003–0.009 are expected and not a model failure.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548640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5720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13132B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53035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509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57200" y="10972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999BB"/>
                </a:solidFill>
              </a:rPr>
              <a:t>Models Built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606040" y="45720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13132B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06040" y="53035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509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0.9321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2606040" y="10972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999BB"/>
                </a:solidFill>
              </a:rPr>
              <a:t>Best RMSE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54880" y="45720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13132B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53035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509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12.2%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4754880" y="10972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999BB"/>
                </a:solidFill>
              </a:rPr>
              <a:t>SVD↔NCF Jaccard Overlap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903720" y="45720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13132B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03720" y="53035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509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19.7%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6903720" y="10972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999BB"/>
                </a:solidFill>
              </a:rPr>
              <a:t>Max Catalogue Coverage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914400" y="178308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the right recommender</a:t>
            </a:r>
            <a:endParaRPr lang="en-US" sz="26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not about the best model —</a:t>
            </a:r>
            <a:endParaRPr lang="en-US" sz="26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about the right tradeoff.</a:t>
            </a:r>
            <a:endParaRPr lang="en-US" sz="2600" dirty="0"/>
          </a:p>
        </p:txBody>
      </p:sp>
      <p:sp>
        <p:nvSpPr>
          <p:cNvPr id="34" name="Shape 32"/>
          <p:cNvSpPr/>
          <p:nvPr/>
        </p:nvSpPr>
        <p:spPr>
          <a:xfrm>
            <a:off x="2286000" y="3520440"/>
            <a:ext cx="4572000" cy="658368"/>
          </a:xfrm>
          <a:prstGeom prst="roundRect">
            <a:avLst>
              <a:gd name="adj" fmla="val 13889"/>
            </a:avLst>
          </a:prstGeom>
          <a:solidFill>
            <a:srgbClr val="13132B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86000" y="352044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🔗  github.com/25f1001872/netflix-recsys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999BB"/>
                </a:solidFill>
              </a:rPr>
              <a:t>Future: </a:t>
            </a:r>
            <a:r>
              <a:rPr lang="en-US" sz="1000" dirty="0">
                <a:solidFill>
                  <a:srgbClr val="9999BB"/>
                </a:solidFill>
              </a:rPr>
              <a:t>Temporal SVD  ·  Content metadata  ·  LightGCN  ·  MMR re-ranking  ·  FastAPI deployment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1125</Words>
  <Application>Microsoft Office PowerPoint</Application>
  <PresentationFormat>On-screen Show (16:9)</PresentationFormat>
  <Paragraphs>190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Netflix RecSys — Technical Presentation</dc:title>
  <dc:subject>PptxGenJS Presentation</dc:subject>
  <dc:creator>IIT Roorkee | Open Projects 2026</dc:creator>
  <cp:lastModifiedBy>Kshitiz Singh</cp:lastModifiedBy>
  <cp:revision>2</cp:revision>
  <dcterms:created xsi:type="dcterms:W3CDTF">2026-06-11T11:52:46Z</dcterms:created>
  <dcterms:modified xsi:type="dcterms:W3CDTF">2026-06-11T12:25:22Z</dcterms:modified>
</cp:coreProperties>
</file>